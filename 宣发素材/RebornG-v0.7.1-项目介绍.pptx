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2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 type="wide"/>
  <p:notesSz cx="6858000" cy="9144000"/>
  <p:defaultTextStyle>
    <a:defPPr>
      <a:defRPr lang="zh-CN"/>
    </a:def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Master" Target="slideMasters/slideMaster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6"/>
          </a:solidFill>
          <a:ln w="12700">
            <a:solidFill>
              <a:srgbClr val="0B0C16"/>
            </a:solidFill>
          </a:ln>
        </p:spPr>
        <p:txBody>
          <a:bodyPr/>
          <a:lstStyle/>
          <a:p/>
        </p:txBody>
      </p:sp>
      <p:sp>
        <p:nvSpPr>
          <p:cNvPr id="3" name="panel 3"/>
          <p:cNvSpPr/>
          <p:nvPr/>
        </p:nvSpPr>
        <p:spPr>
          <a:xfrm>
            <a:off x="320040" y="228600"/>
            <a:ext cx="11548872" cy="6355080"/>
          </a:xfrm>
          <a:prstGeom prst="roundRect">
            <a:avLst/>
          </a:prstGeom>
          <a:solidFill>
            <a:srgbClr val="151622"/>
          </a:solidFill>
          <a:ln w="12700">
            <a:solidFill>
              <a:srgbClr val="252437"/>
            </a:solidFill>
          </a:ln>
        </p:spPr>
        <p:txBody>
          <a:bodyPr/>
          <a:lstStyle/>
          <a:p/>
        </p:txBody>
      </p:sp>
      <p:cxnSp>
        <p:nvCxnSpPr>
          <p:cNvPr id="4" name="line 4"/>
          <p:cNvCxnSpPr/>
          <p:nvPr/>
        </p:nvCxnSpPr>
        <p:spPr>
          <a:xfrm>
            <a:off x="594360" y="1078992"/>
            <a:ext cx="10972800" cy="0"/>
          </a:xfrm>
          <a:prstGeom prst="line">
            <a:avLst/>
          </a:prstGeom>
          <a:ln w="14000">
            <a:solidFill>
              <a:srgbClr val="D6A72C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59436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600" b="1">
                <a:solidFill>
                  <a:srgbClr val="D6A72C"/>
                </a:solidFill>
                <a:latin typeface="Microsoft YaHei"/>
                <a:ea typeface="Microsoft YaHei"/>
                <a:cs typeface="Microsoft YaHei"/>
              </a:rPr>
              <a:t>RebornG v0.7.1</a:t>
            </a:r>
            <a:endParaRPr lang="zh-CN" sz="2600"/>
          </a:p>
        </p:txBody>
      </p:sp>
      <p:sp>
        <p:nvSpPr>
          <p:cNvPr id="6" name="text 6"/>
          <p:cNvSpPr txBox="1"/>
          <p:nvPr/>
        </p:nvSpPr>
        <p:spPr>
          <a:xfrm>
            <a:off x="10469880" y="502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11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01 / 11</a:t>
            </a:r>
            <a:endParaRPr lang="zh-CN" sz="1100"/>
          </a:p>
        </p:txBody>
      </p:sp>
      <p:sp>
        <p:nvSpPr>
          <p:cNvPr id="7" name="text 7"/>
          <p:cNvSpPr txBox="1"/>
          <p:nvPr/>
        </p:nvSpPr>
        <p:spPr>
          <a:xfrm>
            <a:off x="822960" y="1645920"/>
            <a:ext cx="987552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800" b="1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蛊真人二创互动文字游戏</a:t>
            </a:r>
            <a:endParaRPr lang="zh-CN" sz="2800"/>
          </a:p>
          <a:p>
            <a:pPr algn="l"/>
            <a:r>
              <a:rPr lang="zh-CN" sz="2800" b="1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原创蛊师入局五域，AI 叙事由规则托底</a:t>
            </a:r>
            <a:endParaRPr lang="zh-CN" sz="2800"/>
          </a:p>
        </p:txBody>
      </p:sp>
      <p:sp>
        <p:nvSpPr>
          <p:cNvPr id="8" name="text 8"/>
          <p:cNvSpPr txBox="1"/>
          <p:nvPr/>
        </p:nvSpPr>
        <p:spPr>
          <a:xfrm>
            <a:off x="822960" y="306324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700" b="0">
                <a:solidFill>
                  <a:srgbClr val="39C88A"/>
                </a:solidFill>
                <a:latin typeface="Microsoft YaHei"/>
                <a:ea typeface="Microsoft YaHei"/>
                <a:cs typeface="Microsoft YaHei"/>
              </a:rPr>
              <a:t>非盈利二创 · 正史锚点 · IF 宿命双路线 · 可验证系统</a:t>
            </a:r>
            <a:endParaRPr lang="zh-CN" sz="1700"/>
          </a:p>
        </p:txBody>
      </p:sp>
      <p:sp>
        <p:nvSpPr>
          <p:cNvPr id="9" name="panel 9"/>
          <p:cNvSpPr/>
          <p:nvPr/>
        </p:nvSpPr>
        <p:spPr>
          <a:xfrm>
            <a:off x="822960" y="3886200"/>
            <a:ext cx="10515600" cy="1234440"/>
          </a:xfrm>
          <a:prstGeom prst="roundRect">
            <a:avLst/>
          </a:prstGeom>
          <a:solidFill>
            <a:srgbClr val="1D1B2C"/>
          </a:solidFill>
          <a:ln w="12700">
            <a:solidFill>
              <a:srgbClr val="3B3150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1097280" y="4251960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正史锚点稳住世界观，IF 分支承接玩家选择；AI 提供叙事火花，工程规则守住存档和数值。</a:t>
            </a:r>
            <a:endParaRPr lang="zh-CN" sz="1800"/>
          </a:p>
        </p:txBody>
      </p:sp>
      <p:sp>
        <p:nvSpPr>
          <p:cNvPr id="11" name="panel 11"/>
          <p:cNvSpPr/>
          <p:nvPr/>
        </p:nvSpPr>
        <p:spPr>
          <a:xfrm>
            <a:off x="1005840" y="5486400"/>
            <a:ext cx="1325880" cy="347472"/>
          </a:xfrm>
          <a:prstGeom prst="roundRect">
            <a:avLst/>
          </a:prstGeom>
          <a:solidFill>
            <a:srgbClr val="D6A72C"/>
          </a:solidFill>
          <a:ln w="12700">
            <a:solidFill>
              <a:srgbClr val="D6A72C"/>
            </a:solidFill>
          </a:ln>
        </p:spPr>
        <p:txBody>
          <a:bodyPr/>
          <a:lstStyle/>
          <a:p/>
        </p:txBody>
      </p:sp>
      <p:sp>
        <p:nvSpPr>
          <p:cNvPr id="1011" name="text 1011"/>
          <p:cNvSpPr txBox="1"/>
          <p:nvPr/>
        </p:nvSpPr>
        <p:spPr>
          <a:xfrm>
            <a:off x="1051560" y="5541264"/>
            <a:ext cx="1234439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1400" b="1">
                <a:solidFill>
                  <a:srgbClr val="0B0C16"/>
                </a:solidFill>
                <a:latin typeface="Microsoft YaHei"/>
                <a:ea typeface="Microsoft YaHei"/>
                <a:cs typeface="Microsoft YaHei"/>
              </a:rPr>
              <a:t>原创参与者</a:t>
            </a:r>
            <a:endParaRPr lang="zh-CN" sz="1400"/>
          </a:p>
        </p:txBody>
      </p:sp>
      <p:sp>
        <p:nvSpPr>
          <p:cNvPr id="12" name="panel 12"/>
          <p:cNvSpPr/>
          <p:nvPr/>
        </p:nvSpPr>
        <p:spPr>
          <a:xfrm>
            <a:off x="2514600" y="5486400"/>
            <a:ext cx="1234440" cy="347472"/>
          </a:xfrm>
          <a:prstGeom prst="roundRect">
            <a:avLst/>
          </a:prstGeom>
          <a:solidFill>
            <a:srgbClr val="39C88A"/>
          </a:solidFill>
          <a:ln w="12700">
            <a:solidFill>
              <a:srgbClr val="39C88A"/>
            </a:solidFill>
          </a:ln>
        </p:spPr>
        <p:txBody>
          <a:bodyPr/>
          <a:lstStyle/>
          <a:p/>
        </p:txBody>
      </p:sp>
      <p:sp>
        <p:nvSpPr>
          <p:cNvPr id="1012" name="text 1012"/>
          <p:cNvSpPr txBox="1"/>
          <p:nvPr/>
        </p:nvSpPr>
        <p:spPr>
          <a:xfrm>
            <a:off x="2560320" y="5541264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1400" b="1">
                <a:solidFill>
                  <a:srgbClr val="0B0C16"/>
                </a:solidFill>
                <a:latin typeface="Microsoft YaHei"/>
                <a:ea typeface="Microsoft YaHei"/>
                <a:cs typeface="Microsoft YaHei"/>
              </a:rPr>
              <a:t>规则校验</a:t>
            </a:r>
            <a:endParaRPr lang="zh-CN" sz="1400"/>
          </a:p>
        </p:txBody>
      </p:sp>
      <p:sp>
        <p:nvSpPr>
          <p:cNvPr id="13" name="panel 13"/>
          <p:cNvSpPr/>
          <p:nvPr/>
        </p:nvSpPr>
        <p:spPr>
          <a:xfrm>
            <a:off x="3931920" y="5486400"/>
            <a:ext cx="1234440" cy="347472"/>
          </a:xfrm>
          <a:prstGeom prst="roundRect">
            <a:avLst/>
          </a:prstGeom>
          <a:solidFill>
            <a:srgbClr val="4D83FF"/>
          </a:solidFill>
          <a:ln w="12700">
            <a:solidFill>
              <a:srgbClr val="4D83FF"/>
            </a:solidFill>
          </a:ln>
        </p:spPr>
        <p:txBody>
          <a:bodyPr/>
          <a:lstStyle/>
          <a:p/>
        </p:txBody>
      </p:sp>
      <p:sp>
        <p:nvSpPr>
          <p:cNvPr id="1013" name="text 1013"/>
          <p:cNvSpPr txBox="1"/>
          <p:nvPr/>
        </p:nvSpPr>
        <p:spPr>
          <a:xfrm>
            <a:off x="3977639" y="5541264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经济闭环</a:t>
            </a:r>
            <a:endParaRPr lang="zh-CN" sz="1400"/>
          </a:p>
        </p:txBody>
      </p:sp>
      <p:sp>
        <p:nvSpPr>
          <p:cNvPr id="14" name="panel 14"/>
          <p:cNvSpPr/>
          <p:nvPr/>
        </p:nvSpPr>
        <p:spPr>
          <a:xfrm>
            <a:off x="5349240" y="5486400"/>
            <a:ext cx="1143000" cy="347472"/>
          </a:xfrm>
          <a:prstGeom prst="roundRect">
            <a:avLst/>
          </a:prstGeom>
          <a:solidFill>
            <a:srgbClr val="D85C5C"/>
          </a:solidFill>
          <a:ln w="12700">
            <a:solidFill>
              <a:srgbClr val="D85C5C"/>
            </a:solidFill>
          </a:ln>
        </p:spPr>
        <p:txBody>
          <a:bodyPr/>
          <a:lstStyle/>
          <a:p/>
        </p:txBody>
      </p:sp>
      <p:sp>
        <p:nvSpPr>
          <p:cNvPr id="1014" name="text 1014"/>
          <p:cNvSpPr txBox="1"/>
          <p:nvPr/>
        </p:nvSpPr>
        <p:spPr>
          <a:xfrm>
            <a:off x="5394959" y="554126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宿命 IF</a:t>
            </a:r>
            <a:endParaRPr lang="zh-CN" sz="1400"/>
          </a:p>
        </p:txBody>
      </p:sp>
      <p:sp>
        <p:nvSpPr>
          <p:cNvPr id="200" name="text 200"/>
          <p:cNvSpPr txBox="1"/>
          <p:nvPr/>
        </p:nvSpPr>
        <p:spPr>
          <a:xfrm>
            <a:off x="594360" y="619963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0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RebornG · v0.7.1-rc.0 · 非盈利二创开发展示</a:t>
            </a:r>
            <a:endParaRPr lang="zh-CN" sz="1000"/>
          </a:p>
        </p:txBody>
      </p:sp>
      <p:sp>
        <p:nvSpPr>
          <p:cNvPr id="201" name="text 201"/>
          <p:cNvSpPr txBox="1"/>
          <p:nvPr/>
        </p:nvSpPr>
        <p:spPr>
          <a:xfrm>
            <a:off x="8321040" y="619963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10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玩家是原创角色，不替代方源</a:t>
            </a:r>
            <a:endParaRPr lang="zh-CN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6"/>
          </a:solidFill>
          <a:ln w="12700">
            <a:solidFill>
              <a:srgbClr val="0B0C16"/>
            </a:solidFill>
          </a:ln>
        </p:spPr>
        <p:txBody>
          <a:bodyPr/>
          <a:lstStyle/>
          <a:p/>
        </p:txBody>
      </p:sp>
      <p:sp>
        <p:nvSpPr>
          <p:cNvPr id="3" name="panel 3"/>
          <p:cNvSpPr/>
          <p:nvPr/>
        </p:nvSpPr>
        <p:spPr>
          <a:xfrm>
            <a:off x="320040" y="228600"/>
            <a:ext cx="11548872" cy="6355080"/>
          </a:xfrm>
          <a:prstGeom prst="roundRect">
            <a:avLst/>
          </a:prstGeom>
          <a:solidFill>
            <a:srgbClr val="151622"/>
          </a:solidFill>
          <a:ln w="12700">
            <a:solidFill>
              <a:srgbClr val="252437"/>
            </a:solidFill>
          </a:ln>
        </p:spPr>
        <p:txBody>
          <a:bodyPr/>
          <a:lstStyle/>
          <a:p/>
        </p:txBody>
      </p:sp>
      <p:cxnSp>
        <p:nvCxnSpPr>
          <p:cNvPr id="4" name="line 4"/>
          <p:cNvCxnSpPr/>
          <p:nvPr/>
        </p:nvCxnSpPr>
        <p:spPr>
          <a:xfrm>
            <a:off x="594360" y="1078992"/>
            <a:ext cx="10972800" cy="0"/>
          </a:xfrm>
          <a:prstGeom prst="line">
            <a:avLst/>
          </a:prstGeom>
          <a:ln w="14000">
            <a:solidFill>
              <a:srgbClr val="D6A72C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59436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600" b="1">
                <a:solidFill>
                  <a:srgbClr val="D6A72C"/>
                </a:solidFill>
                <a:latin typeface="Microsoft YaHei"/>
                <a:ea typeface="Microsoft YaHei"/>
                <a:cs typeface="Microsoft YaHei"/>
              </a:rPr>
              <a:t>项目定位</a:t>
            </a:r>
            <a:endParaRPr lang="zh-CN" sz="2600"/>
          </a:p>
        </p:txBody>
      </p:sp>
      <p:sp>
        <p:nvSpPr>
          <p:cNvPr id="6" name="text 6"/>
          <p:cNvSpPr txBox="1"/>
          <p:nvPr/>
        </p:nvSpPr>
        <p:spPr>
          <a:xfrm>
            <a:off x="10469880" y="502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11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02 / 11</a:t>
            </a:r>
            <a:endParaRPr lang="zh-CN" sz="1100"/>
          </a:p>
        </p:txBody>
      </p:sp>
      <p:sp>
        <p:nvSpPr>
          <p:cNvPr id="20" name="panel 20"/>
          <p:cNvSpPr/>
          <p:nvPr/>
        </p:nvSpPr>
        <p:spPr>
          <a:xfrm>
            <a:off x="685800" y="1417320"/>
            <a:ext cx="6629400" cy="4389120"/>
          </a:xfrm>
          <a:prstGeom prst="roundRect">
            <a:avLst/>
          </a:prstGeom>
          <a:solidFill>
            <a:srgbClr val="1D1B2C"/>
          </a:solidFill>
          <a:ln w="12700">
            <a:solidFill>
              <a:srgbClr val="2C2940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960120" y="1737360"/>
            <a:ext cx="6080760" cy="35661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玩家不是方源，而是原创参与者</a:t>
            </a:r>
            <a:endParaRPr lang="zh-CN" sz="1800"/>
          </a:p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原著 NPC 保持独立身份和剧情重量</a:t>
            </a:r>
            <a:endParaRPr lang="zh-CN" sz="1800"/>
          </a:p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正史模式稳住锚点，IF 模式记录代价与反噬</a:t>
            </a:r>
            <a:endParaRPr lang="zh-CN" sz="1800"/>
          </a:p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DeepSeek 写候选，引擎决定能不能落地</a:t>
            </a:r>
            <a:endParaRPr lang="zh-CN" sz="1800"/>
          </a:p>
        </p:txBody>
      </p:sp>
      <p:sp>
        <p:nvSpPr>
          <p:cNvPr id="22" name="panel 22"/>
          <p:cNvSpPr/>
          <p:nvPr/>
        </p:nvSpPr>
        <p:spPr>
          <a:xfrm>
            <a:off x="7635240" y="1417320"/>
            <a:ext cx="3520440" cy="4389120"/>
          </a:xfrm>
          <a:prstGeom prst="roundRect">
            <a:avLst/>
          </a:prstGeom>
          <a:solidFill>
            <a:srgbClr val="101B1A"/>
          </a:solidFill>
          <a:ln w="12700">
            <a:solidFill>
              <a:srgbClr val="2B6A52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909560" y="173736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39C88A"/>
                </a:solidFill>
                <a:latin typeface="Microsoft YaHei"/>
                <a:ea typeface="Microsoft YaHei"/>
                <a:cs typeface="Microsoft YaHei"/>
              </a:rPr>
              <a:t>设计口径</a:t>
            </a:r>
            <a:endParaRPr lang="zh-CN" sz="1800"/>
          </a:p>
        </p:txBody>
      </p:sp>
      <p:sp>
        <p:nvSpPr>
          <p:cNvPr id="24" name="text 24"/>
          <p:cNvSpPr txBox="1"/>
          <p:nvPr/>
        </p:nvSpPr>
        <p:spPr>
          <a:xfrm>
            <a:off x="7909560" y="2240280"/>
            <a:ext cx="2788920" cy="2560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目标不是复述小说，而是把玩家放进蛊界规则里，让每个选择都有资源、关系、道心和因果回流。</a:t>
            </a:r>
            <a:endParaRPr lang="zh-CN" sz="1800"/>
          </a:p>
        </p:txBody>
      </p:sp>
      <p:sp>
        <p:nvSpPr>
          <p:cNvPr id="200" name="text 200"/>
          <p:cNvSpPr txBox="1"/>
          <p:nvPr/>
        </p:nvSpPr>
        <p:spPr>
          <a:xfrm>
            <a:off x="594360" y="619963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0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RebornG · v0.7.1-rc.0 · 非盈利二创开发展示</a:t>
            </a:r>
            <a:endParaRPr lang="zh-CN" sz="1000"/>
          </a:p>
        </p:txBody>
      </p:sp>
      <p:sp>
        <p:nvSpPr>
          <p:cNvPr id="201" name="text 201"/>
          <p:cNvSpPr txBox="1"/>
          <p:nvPr/>
        </p:nvSpPr>
        <p:spPr>
          <a:xfrm>
            <a:off x="8321040" y="619963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10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玩家是原创角色，不替代方源</a:t>
            </a:r>
            <a:endParaRPr lang="zh-CN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6"/>
          </a:solidFill>
          <a:ln w="12700">
            <a:solidFill>
              <a:srgbClr val="0B0C16"/>
            </a:solidFill>
          </a:ln>
        </p:spPr>
        <p:txBody>
          <a:bodyPr/>
          <a:lstStyle/>
          <a:p/>
        </p:txBody>
      </p:sp>
      <p:sp>
        <p:nvSpPr>
          <p:cNvPr id="3" name="panel 3"/>
          <p:cNvSpPr/>
          <p:nvPr/>
        </p:nvSpPr>
        <p:spPr>
          <a:xfrm>
            <a:off x="320040" y="228600"/>
            <a:ext cx="11548872" cy="6355080"/>
          </a:xfrm>
          <a:prstGeom prst="roundRect">
            <a:avLst/>
          </a:prstGeom>
          <a:solidFill>
            <a:srgbClr val="151622"/>
          </a:solidFill>
          <a:ln w="12700">
            <a:solidFill>
              <a:srgbClr val="252437"/>
            </a:solidFill>
          </a:ln>
        </p:spPr>
        <p:txBody>
          <a:bodyPr/>
          <a:lstStyle/>
          <a:p/>
        </p:txBody>
      </p:sp>
      <p:cxnSp>
        <p:nvCxnSpPr>
          <p:cNvPr id="4" name="line 4"/>
          <p:cNvCxnSpPr/>
          <p:nvPr/>
        </p:nvCxnSpPr>
        <p:spPr>
          <a:xfrm>
            <a:off x="594360" y="1078992"/>
            <a:ext cx="10972800" cy="0"/>
          </a:xfrm>
          <a:prstGeom prst="line">
            <a:avLst/>
          </a:prstGeom>
          <a:ln w="14000">
            <a:solidFill>
              <a:srgbClr val="D6A72C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59436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600" b="1">
                <a:solidFill>
                  <a:srgbClr val="D6A72C"/>
                </a:solidFill>
                <a:latin typeface="Microsoft YaHei"/>
                <a:ea typeface="Microsoft YaHei"/>
                <a:cs typeface="Microsoft YaHei"/>
              </a:rPr>
              <a:t>v0.7.1 的可信地基</a:t>
            </a:r>
            <a:endParaRPr lang="zh-CN" sz="2600"/>
          </a:p>
        </p:txBody>
      </p:sp>
      <p:sp>
        <p:nvSpPr>
          <p:cNvPr id="6" name="text 6"/>
          <p:cNvSpPr txBox="1"/>
          <p:nvPr/>
        </p:nvSpPr>
        <p:spPr>
          <a:xfrm>
            <a:off x="10469880" y="502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11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03 / 11</a:t>
            </a:r>
            <a:endParaRPr lang="zh-CN" sz="1100"/>
          </a:p>
        </p:txBody>
      </p:sp>
      <p:sp>
        <p:nvSpPr>
          <p:cNvPr id="20" name="panel 20"/>
          <p:cNvSpPr/>
          <p:nvPr/>
        </p:nvSpPr>
        <p:spPr>
          <a:xfrm>
            <a:off x="685800" y="1417320"/>
            <a:ext cx="6629400" cy="4389120"/>
          </a:xfrm>
          <a:prstGeom prst="roundRect">
            <a:avLst/>
          </a:prstGeom>
          <a:solidFill>
            <a:srgbClr val="1D1B2C"/>
          </a:solidFill>
          <a:ln w="12700">
            <a:solidFill>
              <a:srgbClr val="2C2940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960120" y="1737360"/>
            <a:ext cx="6080760" cy="35661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数值闭环：蛊材、仙材、蛊方、食料、商会、宝黄天</a:t>
            </a:r>
            <a:endParaRPr lang="zh-CN" sz="1800"/>
          </a:p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世界观闸门：流派注册表、provenance、StartProfile</a:t>
            </a:r>
            <a:endParaRPr lang="zh-CN" sz="1800"/>
          </a:p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AI 幻觉约束：未知材料、蛊虫、地点先转线索</a:t>
            </a:r>
            <a:endParaRPr lang="zh-CN" sz="1800"/>
          </a:p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承诺效果审计：UI 数值承诺必须真实或诚实降级</a:t>
            </a:r>
            <a:endParaRPr lang="zh-CN" sz="1800"/>
          </a:p>
        </p:txBody>
      </p:sp>
      <p:sp>
        <p:nvSpPr>
          <p:cNvPr id="22" name="panel 22"/>
          <p:cNvSpPr/>
          <p:nvPr/>
        </p:nvSpPr>
        <p:spPr>
          <a:xfrm>
            <a:off x="7635240" y="1417320"/>
            <a:ext cx="3520440" cy="4389120"/>
          </a:xfrm>
          <a:prstGeom prst="roundRect">
            <a:avLst/>
          </a:prstGeom>
          <a:solidFill>
            <a:srgbClr val="101B1A"/>
          </a:solidFill>
          <a:ln w="12700">
            <a:solidFill>
              <a:srgbClr val="2B6A52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909560" y="173736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39C88A"/>
                </a:solidFill>
                <a:latin typeface="Microsoft YaHei"/>
                <a:ea typeface="Microsoft YaHei"/>
                <a:cs typeface="Microsoft YaHei"/>
              </a:rPr>
              <a:t>设计口径</a:t>
            </a:r>
            <a:endParaRPr lang="zh-CN" sz="1800"/>
          </a:p>
        </p:txBody>
      </p:sp>
      <p:sp>
        <p:nvSpPr>
          <p:cNvPr id="24" name="text 24"/>
          <p:cNvSpPr txBox="1"/>
          <p:nvPr/>
        </p:nvSpPr>
        <p:spPr>
          <a:xfrm>
            <a:off x="7909560" y="2240280"/>
            <a:ext cx="2788920" cy="2560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从“能玩”推进到“可信”：文案、UI、源码、测试、canon 数据能互相回指。</a:t>
            </a:r>
            <a:endParaRPr lang="zh-CN" sz="1800"/>
          </a:p>
        </p:txBody>
      </p:sp>
      <p:sp>
        <p:nvSpPr>
          <p:cNvPr id="200" name="text 200"/>
          <p:cNvSpPr txBox="1"/>
          <p:nvPr/>
        </p:nvSpPr>
        <p:spPr>
          <a:xfrm>
            <a:off x="594360" y="619963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0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RebornG · v0.7.1-rc.0 · 非盈利二创开发展示</a:t>
            </a:r>
            <a:endParaRPr lang="zh-CN" sz="1000"/>
          </a:p>
        </p:txBody>
      </p:sp>
      <p:sp>
        <p:nvSpPr>
          <p:cNvPr id="201" name="text 201"/>
          <p:cNvSpPr txBox="1"/>
          <p:nvPr/>
        </p:nvSpPr>
        <p:spPr>
          <a:xfrm>
            <a:off x="8321040" y="619963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10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玩家是原创角色，不替代方源</a:t>
            </a:r>
            <a:endParaRPr lang="zh-CN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6"/>
          </a:solidFill>
          <a:ln w="12700">
            <a:solidFill>
              <a:srgbClr val="0B0C16"/>
            </a:solidFill>
          </a:ln>
        </p:spPr>
        <p:txBody>
          <a:bodyPr/>
          <a:lstStyle/>
          <a:p/>
        </p:txBody>
      </p:sp>
      <p:sp>
        <p:nvSpPr>
          <p:cNvPr id="3" name="panel 3"/>
          <p:cNvSpPr/>
          <p:nvPr/>
        </p:nvSpPr>
        <p:spPr>
          <a:xfrm>
            <a:off x="320040" y="228600"/>
            <a:ext cx="11548872" cy="6355080"/>
          </a:xfrm>
          <a:prstGeom prst="roundRect">
            <a:avLst/>
          </a:prstGeom>
          <a:solidFill>
            <a:srgbClr val="151622"/>
          </a:solidFill>
          <a:ln w="12700">
            <a:solidFill>
              <a:srgbClr val="252437"/>
            </a:solidFill>
          </a:ln>
        </p:spPr>
        <p:txBody>
          <a:bodyPr/>
          <a:lstStyle/>
          <a:p/>
        </p:txBody>
      </p:sp>
      <p:cxnSp>
        <p:nvCxnSpPr>
          <p:cNvPr id="4" name="line 4"/>
          <p:cNvCxnSpPr/>
          <p:nvPr/>
        </p:nvCxnSpPr>
        <p:spPr>
          <a:xfrm>
            <a:off x="594360" y="1078992"/>
            <a:ext cx="10972800" cy="0"/>
          </a:xfrm>
          <a:prstGeom prst="line">
            <a:avLst/>
          </a:prstGeom>
          <a:ln w="14000">
            <a:solidFill>
              <a:srgbClr val="D6A72C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59436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600" b="1">
                <a:solidFill>
                  <a:srgbClr val="D6A72C"/>
                </a:solidFill>
                <a:latin typeface="Microsoft YaHei"/>
                <a:ea typeface="Microsoft YaHei"/>
                <a:cs typeface="Microsoft YaHei"/>
              </a:rPr>
              <a:t>核心循环</a:t>
            </a:r>
            <a:endParaRPr lang="zh-CN" sz="2600"/>
          </a:p>
        </p:txBody>
      </p:sp>
      <p:sp>
        <p:nvSpPr>
          <p:cNvPr id="6" name="text 6"/>
          <p:cNvSpPr txBox="1"/>
          <p:nvPr/>
        </p:nvSpPr>
        <p:spPr>
          <a:xfrm>
            <a:off x="10469880" y="502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11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04 / 11</a:t>
            </a:r>
            <a:endParaRPr lang="zh-CN" sz="1100"/>
          </a:p>
        </p:txBody>
      </p:sp>
      <p:sp>
        <p:nvSpPr>
          <p:cNvPr id="20" name="panel 20"/>
          <p:cNvSpPr/>
          <p:nvPr/>
        </p:nvSpPr>
        <p:spPr>
          <a:xfrm>
            <a:off x="777240" y="1920240"/>
            <a:ext cx="1600200" cy="749808"/>
          </a:xfrm>
          <a:prstGeom prst="roundRect">
            <a:avLst/>
          </a:prstGeom>
          <a:solidFill>
            <a:srgbClr val="D6A72C"/>
          </a:solidFill>
          <a:ln w="12700">
            <a:solidFill>
              <a:srgbClr val="D6A72C"/>
            </a:solidFill>
          </a:ln>
        </p:spPr>
        <p:txBody>
          <a:bodyPr/>
          <a:lstStyle/>
          <a:p/>
        </p:txBody>
      </p:sp>
      <p:sp>
        <p:nvSpPr>
          <p:cNvPr id="60" name="text 60"/>
          <p:cNvSpPr txBox="1"/>
          <p:nvPr/>
        </p:nvSpPr>
        <p:spPr>
          <a:xfrm>
            <a:off x="822960" y="2130552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1500" b="1">
                <a:solidFill>
                  <a:srgbClr val="0B0C16"/>
                </a:solidFill>
                <a:latin typeface="Microsoft YaHei"/>
                <a:ea typeface="Microsoft YaHei"/>
                <a:cs typeface="Microsoft YaHei"/>
              </a:rPr>
              <a:t>身份与地点</a:t>
            </a:r>
            <a:endParaRPr lang="zh-CN" sz="1500"/>
          </a:p>
        </p:txBody>
      </p:sp>
      <p:sp>
        <p:nvSpPr>
          <p:cNvPr id="80" name="text 80"/>
          <p:cNvSpPr txBox="1"/>
          <p:nvPr/>
        </p:nvSpPr>
        <p:spPr>
          <a:xfrm>
            <a:off x="2450592" y="2084831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2400" b="1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lang="zh-CN" sz="2400"/>
          </a:p>
        </p:txBody>
      </p:sp>
      <p:sp>
        <p:nvSpPr>
          <p:cNvPr id="21" name="panel 21"/>
          <p:cNvSpPr/>
          <p:nvPr/>
        </p:nvSpPr>
        <p:spPr>
          <a:xfrm>
            <a:off x="2926080" y="1920240"/>
            <a:ext cx="1600200" cy="749808"/>
          </a:xfrm>
          <a:prstGeom prst="roundRect">
            <a:avLst/>
          </a:prstGeom>
          <a:solidFill>
            <a:srgbClr val="39C88A"/>
          </a:solidFill>
          <a:ln w="12700">
            <a:solidFill>
              <a:srgbClr val="39C88A"/>
            </a:solidFill>
          </a:ln>
        </p:spPr>
        <p:txBody>
          <a:bodyPr/>
          <a:lstStyle/>
          <a:p/>
        </p:txBody>
      </p:sp>
      <p:sp>
        <p:nvSpPr>
          <p:cNvPr id="61" name="text 61"/>
          <p:cNvSpPr txBox="1"/>
          <p:nvPr/>
        </p:nvSpPr>
        <p:spPr>
          <a:xfrm>
            <a:off x="2971800" y="2130552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1500" b="1">
                <a:solidFill>
                  <a:srgbClr val="0B0C16"/>
                </a:solidFill>
                <a:latin typeface="Microsoft YaHei"/>
                <a:ea typeface="Microsoft YaHei"/>
                <a:cs typeface="Microsoft YaHei"/>
              </a:rPr>
              <a:t>AI 叙事候选</a:t>
            </a:r>
            <a:endParaRPr lang="zh-CN" sz="1500"/>
          </a:p>
        </p:txBody>
      </p:sp>
      <p:sp>
        <p:nvSpPr>
          <p:cNvPr id="81" name="text 81"/>
          <p:cNvSpPr txBox="1"/>
          <p:nvPr/>
        </p:nvSpPr>
        <p:spPr>
          <a:xfrm>
            <a:off x="4599432" y="2084831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2400" b="1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lang="zh-CN" sz="2400"/>
          </a:p>
        </p:txBody>
      </p:sp>
      <p:sp>
        <p:nvSpPr>
          <p:cNvPr id="22" name="panel 22"/>
          <p:cNvSpPr/>
          <p:nvPr/>
        </p:nvSpPr>
        <p:spPr>
          <a:xfrm>
            <a:off x="5074920" y="1920240"/>
            <a:ext cx="1600200" cy="749808"/>
          </a:xfrm>
          <a:prstGeom prst="roundRect">
            <a:avLst/>
          </a:prstGeom>
          <a:solidFill>
            <a:srgbClr val="4D83FF"/>
          </a:solidFill>
          <a:ln w="12700">
            <a:solidFill>
              <a:srgbClr val="4D83FF"/>
            </a:solidFill>
          </a:ln>
        </p:spPr>
        <p:txBody>
          <a:bodyPr/>
          <a:lstStyle/>
          <a:p/>
        </p:txBody>
      </p:sp>
      <p:sp>
        <p:nvSpPr>
          <p:cNvPr id="62" name="text 62"/>
          <p:cNvSpPr txBox="1"/>
          <p:nvPr/>
        </p:nvSpPr>
        <p:spPr>
          <a:xfrm>
            <a:off x="5120640" y="2130552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引擎校验</a:t>
            </a:r>
            <a:endParaRPr lang="zh-CN" sz="1500"/>
          </a:p>
        </p:txBody>
      </p:sp>
      <p:sp>
        <p:nvSpPr>
          <p:cNvPr id="82" name="text 82"/>
          <p:cNvSpPr txBox="1"/>
          <p:nvPr/>
        </p:nvSpPr>
        <p:spPr>
          <a:xfrm>
            <a:off x="6748272" y="2084831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2400" b="1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lang="zh-CN" sz="2400"/>
          </a:p>
        </p:txBody>
      </p:sp>
      <p:sp>
        <p:nvSpPr>
          <p:cNvPr id="23" name="panel 23"/>
          <p:cNvSpPr/>
          <p:nvPr/>
        </p:nvSpPr>
        <p:spPr>
          <a:xfrm>
            <a:off x="7223760" y="1920240"/>
            <a:ext cx="1600200" cy="749808"/>
          </a:xfrm>
          <a:prstGeom prst="roundRect">
            <a:avLst/>
          </a:prstGeom>
          <a:solidFill>
            <a:srgbClr val="D85C5C"/>
          </a:solidFill>
          <a:ln w="12700">
            <a:solidFill>
              <a:srgbClr val="D85C5C"/>
            </a:solidFill>
          </a:ln>
        </p:spPr>
        <p:txBody>
          <a:bodyPr/>
          <a:lstStyle/>
          <a:p/>
        </p:txBody>
      </p:sp>
      <p:sp>
        <p:nvSpPr>
          <p:cNvPr id="63" name="text 63"/>
          <p:cNvSpPr txBox="1"/>
          <p:nvPr/>
        </p:nvSpPr>
        <p:spPr>
          <a:xfrm>
            <a:off x="7269480" y="2130552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资源/关系/战斗回流</a:t>
            </a:r>
            <a:endParaRPr lang="zh-CN" sz="1500"/>
          </a:p>
        </p:txBody>
      </p:sp>
      <p:sp>
        <p:nvSpPr>
          <p:cNvPr id="83" name="text 83"/>
          <p:cNvSpPr txBox="1"/>
          <p:nvPr/>
        </p:nvSpPr>
        <p:spPr>
          <a:xfrm>
            <a:off x="8897112" y="2084831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2400" b="1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→</a:t>
            </a:r>
            <a:endParaRPr lang="zh-CN" sz="2400"/>
          </a:p>
        </p:txBody>
      </p:sp>
      <p:sp>
        <p:nvSpPr>
          <p:cNvPr id="24" name="panel 24"/>
          <p:cNvSpPr/>
          <p:nvPr/>
        </p:nvSpPr>
        <p:spPr>
          <a:xfrm>
            <a:off x="9372600" y="1920240"/>
            <a:ext cx="1600200" cy="749808"/>
          </a:xfrm>
          <a:prstGeom prst="roundRect">
            <a:avLst/>
          </a:prstGeom>
          <a:solidFill>
            <a:srgbClr val="8D6BE8"/>
          </a:solidFill>
          <a:ln w="12700">
            <a:solidFill>
              <a:srgbClr val="8D6BE8"/>
            </a:solidFill>
          </a:ln>
        </p:spPr>
        <p:txBody>
          <a:bodyPr/>
          <a:lstStyle/>
          <a:p/>
        </p:txBody>
      </p:sp>
      <p:sp>
        <p:nvSpPr>
          <p:cNvPr id="64" name="text 64"/>
          <p:cNvSpPr txBox="1"/>
          <p:nvPr/>
        </p:nvSpPr>
        <p:spPr>
          <a:xfrm>
            <a:off x="9418320" y="2130552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下一段剧情</a:t>
            </a:r>
            <a:endParaRPr lang="zh-CN" sz="1500"/>
          </a:p>
        </p:txBody>
      </p:sp>
      <p:sp>
        <p:nvSpPr>
          <p:cNvPr id="90" name="panel 90"/>
          <p:cNvSpPr/>
          <p:nvPr/>
        </p:nvSpPr>
        <p:spPr>
          <a:xfrm>
            <a:off x="914400" y="3657600"/>
            <a:ext cx="10241280" cy="1097280"/>
          </a:xfrm>
          <a:prstGeom prst="roundRect">
            <a:avLst/>
          </a:prstGeom>
          <a:solidFill>
            <a:srgbClr val="1D1B2C"/>
          </a:solidFill>
          <a:ln w="12700">
            <a:solidFill>
              <a:srgbClr val="3B3150"/>
            </a:solidFill>
          </a:ln>
        </p:spPr>
        <p:txBody>
          <a:bodyPr/>
          <a:lstStyle/>
          <a:p/>
        </p:txBody>
      </p:sp>
      <p:sp>
        <p:nvSpPr>
          <p:cNvPr id="91" name="text 91"/>
          <p:cNvSpPr txBox="1"/>
          <p:nvPr/>
        </p:nvSpPr>
        <p:spPr>
          <a:xfrm>
            <a:off x="1234440" y="3977639"/>
            <a:ext cx="96012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每次选择不只改变文本，也会进入经济、战斗、声望、道心、图鉴、事件日志和长期上下文。</a:t>
            </a:r>
            <a:endParaRPr lang="zh-CN" sz="1800"/>
          </a:p>
        </p:txBody>
      </p:sp>
      <p:sp>
        <p:nvSpPr>
          <p:cNvPr id="200" name="text 200"/>
          <p:cNvSpPr txBox="1"/>
          <p:nvPr/>
        </p:nvSpPr>
        <p:spPr>
          <a:xfrm>
            <a:off x="594360" y="619963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0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RebornG · v0.7.1-rc.0 · 非盈利二创开发展示</a:t>
            </a:r>
            <a:endParaRPr lang="zh-CN" sz="1000"/>
          </a:p>
        </p:txBody>
      </p:sp>
      <p:sp>
        <p:nvSpPr>
          <p:cNvPr id="201" name="text 201"/>
          <p:cNvSpPr txBox="1"/>
          <p:nvPr/>
        </p:nvSpPr>
        <p:spPr>
          <a:xfrm>
            <a:off x="8321040" y="619963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10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玩家是原创角色，不替代方源</a:t>
            </a:r>
            <a:endParaRPr lang="zh-CN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6"/>
          </a:solidFill>
          <a:ln w="12700">
            <a:solidFill>
              <a:srgbClr val="0B0C16"/>
            </a:solidFill>
          </a:ln>
        </p:spPr>
        <p:txBody>
          <a:bodyPr/>
          <a:lstStyle/>
          <a:p/>
        </p:txBody>
      </p:sp>
      <p:sp>
        <p:nvSpPr>
          <p:cNvPr id="3" name="panel 3"/>
          <p:cNvSpPr/>
          <p:nvPr/>
        </p:nvSpPr>
        <p:spPr>
          <a:xfrm>
            <a:off x="320040" y="228600"/>
            <a:ext cx="11548872" cy="6355080"/>
          </a:xfrm>
          <a:prstGeom prst="roundRect">
            <a:avLst/>
          </a:prstGeom>
          <a:solidFill>
            <a:srgbClr val="151622"/>
          </a:solidFill>
          <a:ln w="12700">
            <a:solidFill>
              <a:srgbClr val="252437"/>
            </a:solidFill>
          </a:ln>
        </p:spPr>
        <p:txBody>
          <a:bodyPr/>
          <a:lstStyle/>
          <a:p/>
        </p:txBody>
      </p:sp>
      <p:cxnSp>
        <p:nvCxnSpPr>
          <p:cNvPr id="4" name="line 4"/>
          <p:cNvCxnSpPr/>
          <p:nvPr/>
        </p:nvCxnSpPr>
        <p:spPr>
          <a:xfrm>
            <a:off x="594360" y="1078992"/>
            <a:ext cx="10972800" cy="0"/>
          </a:xfrm>
          <a:prstGeom prst="line">
            <a:avLst/>
          </a:prstGeom>
          <a:ln w="14000">
            <a:solidFill>
              <a:srgbClr val="D6A72C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59436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600" b="1">
                <a:solidFill>
                  <a:srgbClr val="D6A72C"/>
                </a:solidFill>
                <a:latin typeface="Microsoft YaHei"/>
                <a:ea typeface="Microsoft YaHei"/>
                <a:cs typeface="Microsoft YaHei"/>
              </a:rPr>
              <a:t>炼养用与经济闭环</a:t>
            </a:r>
            <a:endParaRPr lang="zh-CN" sz="2600"/>
          </a:p>
        </p:txBody>
      </p:sp>
      <p:sp>
        <p:nvSpPr>
          <p:cNvPr id="6" name="text 6"/>
          <p:cNvSpPr txBox="1"/>
          <p:nvPr/>
        </p:nvSpPr>
        <p:spPr>
          <a:xfrm>
            <a:off x="10469880" y="502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11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05 / 11</a:t>
            </a:r>
            <a:endParaRPr lang="zh-CN" sz="1100"/>
          </a:p>
        </p:txBody>
      </p:sp>
      <p:sp>
        <p:nvSpPr>
          <p:cNvPr id="20" name="panel 20"/>
          <p:cNvSpPr/>
          <p:nvPr/>
        </p:nvSpPr>
        <p:spPr>
          <a:xfrm>
            <a:off x="685800" y="1417320"/>
            <a:ext cx="6629400" cy="4389120"/>
          </a:xfrm>
          <a:prstGeom prst="roundRect">
            <a:avLst/>
          </a:prstGeom>
          <a:solidFill>
            <a:srgbClr val="1D1B2C"/>
          </a:solidFill>
          <a:ln w="12700">
            <a:solidFill>
              <a:srgbClr val="2C2940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960120" y="1737360"/>
            <a:ext cx="6080760" cy="35661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炼蛊、升炼、拆炼读取同一套配方和材料来源矩阵</a:t>
            </a:r>
            <a:endParaRPr lang="zh-CN" sz="1800"/>
          </a:p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蛊虫喂养优先消耗登记食料，缺口可追踪</a:t>
            </a:r>
            <a:endParaRPr lang="zh-CN" sz="1800"/>
          </a:p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宝黄天只对蛊仙开放，价格进入 20/100/300 回合模拟</a:t>
            </a:r>
            <a:endParaRPr lang="zh-CN" sz="1800"/>
          </a:p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商会支持购买/出售蛊材，防止套利和材料卡死</a:t>
            </a:r>
            <a:endParaRPr lang="zh-CN" sz="1800"/>
          </a:p>
        </p:txBody>
      </p:sp>
      <p:sp>
        <p:nvSpPr>
          <p:cNvPr id="22" name="panel 22"/>
          <p:cNvSpPr/>
          <p:nvPr/>
        </p:nvSpPr>
        <p:spPr>
          <a:xfrm>
            <a:off x="7635240" y="1417320"/>
            <a:ext cx="3520440" cy="4389120"/>
          </a:xfrm>
          <a:prstGeom prst="roundRect">
            <a:avLst/>
          </a:prstGeom>
          <a:solidFill>
            <a:srgbClr val="101B1A"/>
          </a:solidFill>
          <a:ln w="12700">
            <a:solidFill>
              <a:srgbClr val="2B6A52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909560" y="173736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39C88A"/>
                </a:solidFill>
                <a:latin typeface="Microsoft YaHei"/>
                <a:ea typeface="Microsoft YaHei"/>
                <a:cs typeface="Microsoft YaHei"/>
              </a:rPr>
              <a:t>设计口径</a:t>
            </a:r>
            <a:endParaRPr lang="zh-CN" sz="1800"/>
          </a:p>
        </p:txBody>
      </p:sp>
      <p:sp>
        <p:nvSpPr>
          <p:cNvPr id="24" name="text 24"/>
          <p:cNvSpPr txBox="1"/>
          <p:nvPr/>
        </p:nvSpPr>
        <p:spPr>
          <a:xfrm>
            <a:off x="7909560" y="2240280"/>
            <a:ext cx="2788920" cy="2560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经济目标：玩家能努力获得关键材料，但不能靠刷战斗、外派或商会把成长节奏打穿。</a:t>
            </a:r>
            <a:endParaRPr lang="zh-CN" sz="1800"/>
          </a:p>
        </p:txBody>
      </p:sp>
      <p:sp>
        <p:nvSpPr>
          <p:cNvPr id="200" name="text 200"/>
          <p:cNvSpPr txBox="1"/>
          <p:nvPr/>
        </p:nvSpPr>
        <p:spPr>
          <a:xfrm>
            <a:off x="594360" y="619963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0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RebornG · v0.7.1-rc.0 · 非盈利二创开发展示</a:t>
            </a:r>
            <a:endParaRPr lang="zh-CN" sz="1000"/>
          </a:p>
        </p:txBody>
      </p:sp>
      <p:sp>
        <p:nvSpPr>
          <p:cNvPr id="201" name="text 201"/>
          <p:cNvSpPr txBox="1"/>
          <p:nvPr/>
        </p:nvSpPr>
        <p:spPr>
          <a:xfrm>
            <a:off x="8321040" y="619963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10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玩家是原创角色，不替代方源</a:t>
            </a:r>
            <a:endParaRPr lang="zh-CN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6"/>
          </a:solidFill>
          <a:ln w="12700">
            <a:solidFill>
              <a:srgbClr val="0B0C16"/>
            </a:solidFill>
          </a:ln>
        </p:spPr>
        <p:txBody>
          <a:bodyPr/>
          <a:lstStyle/>
          <a:p/>
        </p:txBody>
      </p:sp>
      <p:sp>
        <p:nvSpPr>
          <p:cNvPr id="3" name="panel 3"/>
          <p:cNvSpPr/>
          <p:nvPr/>
        </p:nvSpPr>
        <p:spPr>
          <a:xfrm>
            <a:off x="320040" y="228600"/>
            <a:ext cx="11548872" cy="6355080"/>
          </a:xfrm>
          <a:prstGeom prst="roundRect">
            <a:avLst/>
          </a:prstGeom>
          <a:solidFill>
            <a:srgbClr val="151622"/>
          </a:solidFill>
          <a:ln w="12700">
            <a:solidFill>
              <a:srgbClr val="252437"/>
            </a:solidFill>
          </a:ln>
        </p:spPr>
        <p:txBody>
          <a:bodyPr/>
          <a:lstStyle/>
          <a:p/>
        </p:txBody>
      </p:sp>
      <p:cxnSp>
        <p:nvCxnSpPr>
          <p:cNvPr id="4" name="line 4"/>
          <p:cNvCxnSpPr/>
          <p:nvPr/>
        </p:nvCxnSpPr>
        <p:spPr>
          <a:xfrm>
            <a:off x="594360" y="1078992"/>
            <a:ext cx="10972800" cy="0"/>
          </a:xfrm>
          <a:prstGeom prst="line">
            <a:avLst/>
          </a:prstGeom>
          <a:ln w="14000">
            <a:solidFill>
              <a:srgbClr val="D6A72C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59436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600" b="1">
                <a:solidFill>
                  <a:srgbClr val="D6A72C"/>
                </a:solidFill>
                <a:latin typeface="Microsoft YaHei"/>
                <a:ea typeface="Microsoft YaHei"/>
                <a:cs typeface="Microsoft YaHei"/>
              </a:rPr>
              <a:t>战斗、小队与势力</a:t>
            </a:r>
            <a:endParaRPr lang="zh-CN" sz="2600"/>
          </a:p>
        </p:txBody>
      </p:sp>
      <p:sp>
        <p:nvSpPr>
          <p:cNvPr id="6" name="text 6"/>
          <p:cNvSpPr txBox="1"/>
          <p:nvPr/>
        </p:nvSpPr>
        <p:spPr>
          <a:xfrm>
            <a:off x="10469880" y="502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11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06 / 11</a:t>
            </a:r>
            <a:endParaRPr lang="zh-CN" sz="1100"/>
          </a:p>
        </p:txBody>
      </p:sp>
      <p:sp>
        <p:nvSpPr>
          <p:cNvPr id="20" name="panel 20"/>
          <p:cNvSpPr/>
          <p:nvPr/>
        </p:nvSpPr>
        <p:spPr>
          <a:xfrm>
            <a:off x="685800" y="1417320"/>
            <a:ext cx="6629400" cy="4389120"/>
          </a:xfrm>
          <a:prstGeom prst="roundRect">
            <a:avLst/>
          </a:prstGeom>
          <a:solidFill>
            <a:srgbClr val="1D1B2C"/>
          </a:solidFill>
          <a:ln w="12700">
            <a:solidFill>
              <a:srgbClr val="2C2940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960120" y="1737360"/>
            <a:ext cx="6080760" cy="35661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单人战：境界压制、流派克制、道痕共鸣、BattleTrace</a:t>
            </a:r>
            <a:endParaRPr lang="zh-CN" sz="1800"/>
          </a:p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小队战复用 combat-config、DuelMove 和奖励闸门</a:t>
            </a:r>
            <a:endParaRPr lang="zh-CN" sz="1800"/>
          </a:p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外派任务回流声望、经济、传闻与关系</a:t>
            </a:r>
            <a:endParaRPr lang="zh-CN" sz="1800"/>
          </a:p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仙蛊强，但必须有门槛、冷却、反噬或剧情授权</a:t>
            </a:r>
            <a:endParaRPr lang="zh-CN" sz="1800"/>
          </a:p>
        </p:txBody>
      </p:sp>
      <p:sp>
        <p:nvSpPr>
          <p:cNvPr id="22" name="panel 22"/>
          <p:cNvSpPr/>
          <p:nvPr/>
        </p:nvSpPr>
        <p:spPr>
          <a:xfrm>
            <a:off x="7635240" y="1417320"/>
            <a:ext cx="3520440" cy="4389120"/>
          </a:xfrm>
          <a:prstGeom prst="roundRect">
            <a:avLst/>
          </a:prstGeom>
          <a:solidFill>
            <a:srgbClr val="101B1A"/>
          </a:solidFill>
          <a:ln w="12700">
            <a:solidFill>
              <a:srgbClr val="2B6A52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909560" y="173736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39C88A"/>
                </a:solidFill>
                <a:latin typeface="Microsoft YaHei"/>
                <a:ea typeface="Microsoft YaHei"/>
                <a:cs typeface="Microsoft YaHei"/>
              </a:rPr>
              <a:t>设计口径</a:t>
            </a:r>
            <a:endParaRPr lang="zh-CN" sz="1800"/>
          </a:p>
        </p:txBody>
      </p:sp>
      <p:sp>
        <p:nvSpPr>
          <p:cNvPr id="24" name="text 24"/>
          <p:cNvSpPr txBox="1"/>
          <p:nvPr/>
        </p:nvSpPr>
        <p:spPr>
          <a:xfrm>
            <a:off x="7909560" y="2240280"/>
            <a:ext cx="2788920" cy="2560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战斗不是黑箱：玩家能看到为什么命中低、为什么逃跑难、为什么奖励没有越权入库。</a:t>
            </a:r>
            <a:endParaRPr lang="zh-CN" sz="1800"/>
          </a:p>
        </p:txBody>
      </p:sp>
      <p:sp>
        <p:nvSpPr>
          <p:cNvPr id="200" name="text 200"/>
          <p:cNvSpPr txBox="1"/>
          <p:nvPr/>
        </p:nvSpPr>
        <p:spPr>
          <a:xfrm>
            <a:off x="594360" y="619963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0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RebornG · v0.7.1-rc.0 · 非盈利二创开发展示</a:t>
            </a:r>
            <a:endParaRPr lang="zh-CN" sz="1000"/>
          </a:p>
        </p:txBody>
      </p:sp>
      <p:sp>
        <p:nvSpPr>
          <p:cNvPr id="201" name="text 201"/>
          <p:cNvSpPr txBox="1"/>
          <p:nvPr/>
        </p:nvSpPr>
        <p:spPr>
          <a:xfrm>
            <a:off x="8321040" y="619963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10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玩家是原创角色，不替代方源</a:t>
            </a:r>
            <a:endParaRPr lang="zh-CN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6"/>
          </a:solidFill>
          <a:ln w="12700">
            <a:solidFill>
              <a:srgbClr val="0B0C16"/>
            </a:solidFill>
          </a:ln>
        </p:spPr>
        <p:txBody>
          <a:bodyPr/>
          <a:lstStyle/>
          <a:p/>
        </p:txBody>
      </p:sp>
      <p:sp>
        <p:nvSpPr>
          <p:cNvPr id="3" name="panel 3"/>
          <p:cNvSpPr/>
          <p:nvPr/>
        </p:nvSpPr>
        <p:spPr>
          <a:xfrm>
            <a:off x="320040" y="228600"/>
            <a:ext cx="11548872" cy="6355080"/>
          </a:xfrm>
          <a:prstGeom prst="roundRect">
            <a:avLst/>
          </a:prstGeom>
          <a:solidFill>
            <a:srgbClr val="151622"/>
          </a:solidFill>
          <a:ln w="12700">
            <a:solidFill>
              <a:srgbClr val="252437"/>
            </a:solidFill>
          </a:ln>
        </p:spPr>
        <p:txBody>
          <a:bodyPr/>
          <a:lstStyle/>
          <a:p/>
        </p:txBody>
      </p:sp>
      <p:cxnSp>
        <p:nvCxnSpPr>
          <p:cNvPr id="4" name="line 4"/>
          <p:cNvCxnSpPr/>
          <p:nvPr/>
        </p:nvCxnSpPr>
        <p:spPr>
          <a:xfrm>
            <a:off x="594360" y="1078992"/>
            <a:ext cx="10972800" cy="0"/>
          </a:xfrm>
          <a:prstGeom prst="line">
            <a:avLst/>
          </a:prstGeom>
          <a:ln w="14000">
            <a:solidFill>
              <a:srgbClr val="D6A72C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59436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600" b="1">
                <a:solidFill>
                  <a:srgbClr val="D6A72C"/>
                </a:solidFill>
                <a:latin typeface="Microsoft YaHei"/>
                <a:ea typeface="Microsoft YaHei"/>
                <a:cs typeface="Microsoft YaHei"/>
              </a:rPr>
              <a:t>AI 叙事闸门</a:t>
            </a:r>
            <a:endParaRPr lang="zh-CN" sz="2600"/>
          </a:p>
        </p:txBody>
      </p:sp>
      <p:sp>
        <p:nvSpPr>
          <p:cNvPr id="6" name="text 6"/>
          <p:cNvSpPr txBox="1"/>
          <p:nvPr/>
        </p:nvSpPr>
        <p:spPr>
          <a:xfrm>
            <a:off x="10469880" y="502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11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07 / 11</a:t>
            </a:r>
            <a:endParaRPr lang="zh-CN" sz="1100"/>
          </a:p>
        </p:txBody>
      </p:sp>
      <p:sp>
        <p:nvSpPr>
          <p:cNvPr id="20" name="panel 20"/>
          <p:cNvSpPr/>
          <p:nvPr/>
        </p:nvSpPr>
        <p:spPr>
          <a:xfrm>
            <a:off x="685800" y="1417320"/>
            <a:ext cx="6629400" cy="4389120"/>
          </a:xfrm>
          <a:prstGeom prst="roundRect">
            <a:avLst/>
          </a:prstGeom>
          <a:solidFill>
            <a:srgbClr val="1D1B2C"/>
          </a:solidFill>
          <a:ln w="12700">
            <a:solidFill>
              <a:srgbClr val="2C2940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960120" y="1737360"/>
            <a:ext cx="6080760" cy="35661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AI 可以提出对话、委托、战斗事件、传闻地点</a:t>
            </a:r>
            <a:endParaRPr lang="zh-CN" sz="1800"/>
          </a:p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AI 不能直接发放未知蛊虫、正式任务或战斗奖励</a:t>
            </a:r>
            <a:endParaRPr lang="zh-CN" sz="1800"/>
          </a:p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剧情硬事实注入上下文：身份、地点、生命、真元、背包</a:t>
            </a:r>
            <a:endParaRPr lang="zh-CN" sz="1800"/>
          </a:p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错误选项会被修正、降级或转为天意提示</a:t>
            </a:r>
            <a:endParaRPr lang="zh-CN" sz="1800"/>
          </a:p>
        </p:txBody>
      </p:sp>
      <p:sp>
        <p:nvSpPr>
          <p:cNvPr id="22" name="panel 22"/>
          <p:cNvSpPr/>
          <p:nvPr/>
        </p:nvSpPr>
        <p:spPr>
          <a:xfrm>
            <a:off x="7635240" y="1417320"/>
            <a:ext cx="3520440" cy="4389120"/>
          </a:xfrm>
          <a:prstGeom prst="roundRect">
            <a:avLst/>
          </a:prstGeom>
          <a:solidFill>
            <a:srgbClr val="101B1A"/>
          </a:solidFill>
          <a:ln w="12700">
            <a:solidFill>
              <a:srgbClr val="2B6A52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909560" y="173736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39C88A"/>
                </a:solidFill>
                <a:latin typeface="Microsoft YaHei"/>
                <a:ea typeface="Microsoft YaHei"/>
                <a:cs typeface="Microsoft YaHei"/>
              </a:rPr>
              <a:t>设计口径</a:t>
            </a:r>
            <a:endParaRPr lang="zh-CN" sz="1800"/>
          </a:p>
        </p:txBody>
      </p:sp>
      <p:sp>
        <p:nvSpPr>
          <p:cNvPr id="24" name="text 24"/>
          <p:cNvSpPr txBox="1"/>
          <p:nvPr/>
        </p:nvSpPr>
        <p:spPr>
          <a:xfrm>
            <a:off x="7909560" y="2240280"/>
            <a:ext cx="2788920" cy="2560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这套闸门让 AI 保持想象力，同时避免把存档、经济和世界观写坏。</a:t>
            </a:r>
            <a:endParaRPr lang="zh-CN" sz="1800"/>
          </a:p>
        </p:txBody>
      </p:sp>
      <p:sp>
        <p:nvSpPr>
          <p:cNvPr id="200" name="text 200"/>
          <p:cNvSpPr txBox="1"/>
          <p:nvPr/>
        </p:nvSpPr>
        <p:spPr>
          <a:xfrm>
            <a:off x="594360" y="619963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0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RebornG · v0.7.1-rc.0 · 非盈利二创开发展示</a:t>
            </a:r>
            <a:endParaRPr lang="zh-CN" sz="1000"/>
          </a:p>
        </p:txBody>
      </p:sp>
      <p:sp>
        <p:nvSpPr>
          <p:cNvPr id="201" name="text 201"/>
          <p:cNvSpPr txBox="1"/>
          <p:nvPr/>
        </p:nvSpPr>
        <p:spPr>
          <a:xfrm>
            <a:off x="8321040" y="619963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10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玩家是原创角色，不替代方源</a:t>
            </a:r>
            <a:endParaRPr lang="zh-CN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6"/>
          </a:solidFill>
          <a:ln w="12700">
            <a:solidFill>
              <a:srgbClr val="0B0C16"/>
            </a:solidFill>
          </a:ln>
        </p:spPr>
        <p:txBody>
          <a:bodyPr/>
          <a:lstStyle/>
          <a:p/>
        </p:txBody>
      </p:sp>
      <p:sp>
        <p:nvSpPr>
          <p:cNvPr id="3" name="panel 3"/>
          <p:cNvSpPr/>
          <p:nvPr/>
        </p:nvSpPr>
        <p:spPr>
          <a:xfrm>
            <a:off x="320040" y="228600"/>
            <a:ext cx="11548872" cy="6355080"/>
          </a:xfrm>
          <a:prstGeom prst="roundRect">
            <a:avLst/>
          </a:prstGeom>
          <a:solidFill>
            <a:srgbClr val="151622"/>
          </a:solidFill>
          <a:ln w="12700">
            <a:solidFill>
              <a:srgbClr val="252437"/>
            </a:solidFill>
          </a:ln>
        </p:spPr>
        <p:txBody>
          <a:bodyPr/>
          <a:lstStyle/>
          <a:p/>
        </p:txBody>
      </p:sp>
      <p:cxnSp>
        <p:nvCxnSpPr>
          <p:cNvPr id="4" name="line 4"/>
          <p:cNvCxnSpPr/>
          <p:nvPr/>
        </p:nvCxnSpPr>
        <p:spPr>
          <a:xfrm>
            <a:off x="594360" y="1078992"/>
            <a:ext cx="10972800" cy="0"/>
          </a:xfrm>
          <a:prstGeom prst="line">
            <a:avLst/>
          </a:prstGeom>
          <a:ln w="14000">
            <a:solidFill>
              <a:srgbClr val="D6A72C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59436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600" b="1">
                <a:solidFill>
                  <a:srgbClr val="D6A72C"/>
                </a:solidFill>
                <a:latin typeface="Microsoft YaHei"/>
                <a:ea typeface="Microsoft YaHei"/>
                <a:cs typeface="Microsoft YaHei"/>
              </a:rPr>
              <a:t>角色曲与演出</a:t>
            </a:r>
            <a:endParaRPr lang="zh-CN" sz="2600"/>
          </a:p>
        </p:txBody>
      </p:sp>
      <p:sp>
        <p:nvSpPr>
          <p:cNvPr id="6" name="text 6"/>
          <p:cNvSpPr txBox="1"/>
          <p:nvPr/>
        </p:nvSpPr>
        <p:spPr>
          <a:xfrm>
            <a:off x="10469880" y="502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11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08 / 11</a:t>
            </a:r>
            <a:endParaRPr lang="zh-CN" sz="1100"/>
          </a:p>
        </p:txBody>
      </p:sp>
      <p:sp>
        <p:nvSpPr>
          <p:cNvPr id="20" name="panel 20"/>
          <p:cNvSpPr/>
          <p:nvPr/>
        </p:nvSpPr>
        <p:spPr>
          <a:xfrm>
            <a:off x="685800" y="1417320"/>
            <a:ext cx="6629400" cy="4389120"/>
          </a:xfrm>
          <a:prstGeom prst="roundRect">
            <a:avLst/>
          </a:prstGeom>
          <a:solidFill>
            <a:srgbClr val="1D1B2C"/>
          </a:solidFill>
          <a:ln w="12700">
            <a:solidFill>
              <a:srgbClr val="2C2940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960120" y="1737360"/>
            <a:ext cx="6080760" cy="35661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方源、龙公、白凝冰、商心慈、红莲、马鸿运等曲目已进入私用二创包</a:t>
            </a:r>
            <a:endParaRPr lang="zh-CN" sz="1800"/>
          </a:p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同角色多曲按回合和 seed 可复现轮换</a:t>
            </a:r>
            <a:endParaRPr lang="zh-CN" sz="1800"/>
          </a:p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杀招和重要仙蛊支持闪图、流派色、震屏和 SFX cue</a:t>
            </a:r>
            <a:endParaRPr lang="zh-CN" sz="1800"/>
          </a:p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公开分发时可通过 manifest 切换为纯免费素材包</a:t>
            </a:r>
            <a:endParaRPr lang="zh-CN" sz="1800"/>
          </a:p>
        </p:txBody>
      </p:sp>
      <p:sp>
        <p:nvSpPr>
          <p:cNvPr id="22" name="panel 22"/>
          <p:cNvSpPr/>
          <p:nvPr/>
        </p:nvSpPr>
        <p:spPr>
          <a:xfrm>
            <a:off x="7635240" y="1417320"/>
            <a:ext cx="3520440" cy="4389120"/>
          </a:xfrm>
          <a:prstGeom prst="roundRect">
            <a:avLst/>
          </a:prstGeom>
          <a:solidFill>
            <a:srgbClr val="101B1A"/>
          </a:solidFill>
          <a:ln w="12700">
            <a:solidFill>
              <a:srgbClr val="2B6A52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909560" y="173736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39C88A"/>
                </a:solidFill>
                <a:latin typeface="Microsoft YaHei"/>
                <a:ea typeface="Microsoft YaHei"/>
                <a:cs typeface="Microsoft YaHei"/>
              </a:rPr>
              <a:t>设计口径</a:t>
            </a:r>
            <a:endParaRPr lang="zh-CN" sz="1800"/>
          </a:p>
        </p:txBody>
      </p:sp>
      <p:sp>
        <p:nvSpPr>
          <p:cNvPr id="24" name="text 24"/>
          <p:cNvSpPr txBox="1"/>
          <p:nvPr/>
        </p:nvSpPr>
        <p:spPr>
          <a:xfrm>
            <a:off x="7909560" y="2240280"/>
            <a:ext cx="2788920" cy="2560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演出不阻塞结算：闪图和音乐增强氛围，战斗、奖励、剧情状态仍由引擎完成。</a:t>
            </a:r>
            <a:endParaRPr lang="zh-CN" sz="1800"/>
          </a:p>
        </p:txBody>
      </p:sp>
      <p:sp>
        <p:nvSpPr>
          <p:cNvPr id="200" name="text 200"/>
          <p:cNvSpPr txBox="1"/>
          <p:nvPr/>
        </p:nvSpPr>
        <p:spPr>
          <a:xfrm>
            <a:off x="594360" y="619963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0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RebornG · v0.7.1-rc.0 · 非盈利二创开发展示</a:t>
            </a:r>
            <a:endParaRPr lang="zh-CN" sz="1000"/>
          </a:p>
        </p:txBody>
      </p:sp>
      <p:sp>
        <p:nvSpPr>
          <p:cNvPr id="201" name="text 201"/>
          <p:cNvSpPr txBox="1"/>
          <p:nvPr/>
        </p:nvSpPr>
        <p:spPr>
          <a:xfrm>
            <a:off x="8321040" y="619963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10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玩家是原创角色，不替代方源</a:t>
            </a:r>
            <a:endParaRPr lang="zh-CN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6"/>
          </a:solidFill>
          <a:ln w="12700">
            <a:solidFill>
              <a:srgbClr val="0B0C16"/>
            </a:solidFill>
          </a:ln>
        </p:spPr>
        <p:txBody>
          <a:bodyPr/>
          <a:lstStyle/>
          <a:p/>
        </p:txBody>
      </p:sp>
      <p:sp>
        <p:nvSpPr>
          <p:cNvPr id="3" name="panel 3"/>
          <p:cNvSpPr/>
          <p:nvPr/>
        </p:nvSpPr>
        <p:spPr>
          <a:xfrm>
            <a:off x="320040" y="228600"/>
            <a:ext cx="11548872" cy="6355080"/>
          </a:xfrm>
          <a:prstGeom prst="roundRect">
            <a:avLst/>
          </a:prstGeom>
          <a:solidFill>
            <a:srgbClr val="151622"/>
          </a:solidFill>
          <a:ln w="12700">
            <a:solidFill>
              <a:srgbClr val="252437"/>
            </a:solidFill>
          </a:ln>
        </p:spPr>
        <p:txBody>
          <a:bodyPr/>
          <a:lstStyle/>
          <a:p/>
        </p:txBody>
      </p:sp>
      <p:cxnSp>
        <p:nvCxnSpPr>
          <p:cNvPr id="4" name="line 4"/>
          <p:cNvCxnSpPr/>
          <p:nvPr/>
        </p:nvCxnSpPr>
        <p:spPr>
          <a:xfrm>
            <a:off x="594360" y="1078992"/>
            <a:ext cx="10972800" cy="0"/>
          </a:xfrm>
          <a:prstGeom prst="line">
            <a:avLst/>
          </a:prstGeom>
          <a:ln w="14000">
            <a:solidFill>
              <a:srgbClr val="D6A72C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59436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600" b="1">
                <a:solidFill>
                  <a:srgbClr val="D6A72C"/>
                </a:solidFill>
                <a:latin typeface="Microsoft YaHei"/>
                <a:ea typeface="Microsoft YaHei"/>
                <a:cs typeface="Microsoft YaHei"/>
              </a:rPr>
              <a:t>测试与发布可信</a:t>
            </a:r>
            <a:endParaRPr lang="zh-CN" sz="2600"/>
          </a:p>
        </p:txBody>
      </p:sp>
      <p:sp>
        <p:nvSpPr>
          <p:cNvPr id="6" name="text 6"/>
          <p:cNvSpPr txBox="1"/>
          <p:nvPr/>
        </p:nvSpPr>
        <p:spPr>
          <a:xfrm>
            <a:off x="10469880" y="502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11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09 / 11</a:t>
            </a:r>
            <a:endParaRPr lang="zh-CN" sz="1100"/>
          </a:p>
        </p:txBody>
      </p:sp>
      <p:sp>
        <p:nvSpPr>
          <p:cNvPr id="20" name="panel 20"/>
          <p:cNvSpPr/>
          <p:nvPr/>
        </p:nvSpPr>
        <p:spPr>
          <a:xfrm>
            <a:off x="685800" y="1417320"/>
            <a:ext cx="6629400" cy="4389120"/>
          </a:xfrm>
          <a:prstGeom prst="roundRect">
            <a:avLst/>
          </a:prstGeom>
          <a:solidFill>
            <a:srgbClr val="1D1B2C"/>
          </a:solidFill>
          <a:ln w="12700">
            <a:solidFill>
              <a:srgbClr val="2C2940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960120" y="1737360"/>
            <a:ext cx="6080760" cy="35661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中文测试存档覆盖七出身、战斗、小队、宝黄天、十绝体、外派、音频</a:t>
            </a:r>
            <a:endParaRPr lang="zh-CN" sz="1800"/>
          </a:p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旧英文存档继续保留，保证 e2e 兼容</a:t>
            </a:r>
            <a:endParaRPr lang="zh-CN" sz="1800"/>
          </a:p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回归目标：npm test、npm run build、npm run test:e2e:long</a:t>
            </a:r>
            <a:endParaRPr lang="zh-CN" sz="1800"/>
          </a:p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发布文档记录阻塞、已完成、模糊曲目和下一步风险</a:t>
            </a:r>
            <a:endParaRPr lang="zh-CN" sz="1800"/>
          </a:p>
        </p:txBody>
      </p:sp>
      <p:sp>
        <p:nvSpPr>
          <p:cNvPr id="22" name="panel 22"/>
          <p:cNvSpPr/>
          <p:nvPr/>
        </p:nvSpPr>
        <p:spPr>
          <a:xfrm>
            <a:off x="7635240" y="1417320"/>
            <a:ext cx="3520440" cy="4389120"/>
          </a:xfrm>
          <a:prstGeom prst="roundRect">
            <a:avLst/>
          </a:prstGeom>
          <a:solidFill>
            <a:srgbClr val="101B1A"/>
          </a:solidFill>
          <a:ln w="12700">
            <a:solidFill>
              <a:srgbClr val="2B6A52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909560" y="173736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39C88A"/>
                </a:solidFill>
                <a:latin typeface="Microsoft YaHei"/>
                <a:ea typeface="Microsoft YaHei"/>
                <a:cs typeface="Microsoft YaHei"/>
              </a:rPr>
              <a:t>设计口径</a:t>
            </a:r>
            <a:endParaRPr lang="zh-CN" sz="1800"/>
          </a:p>
        </p:txBody>
      </p:sp>
      <p:sp>
        <p:nvSpPr>
          <p:cNvPr id="24" name="text 24"/>
          <p:cNvSpPr txBox="1"/>
          <p:nvPr/>
        </p:nvSpPr>
        <p:spPr>
          <a:xfrm>
            <a:off x="7909560" y="2240280"/>
            <a:ext cx="2788920" cy="2560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测试存档不是摆设，而是以后每次重构前的快速验收入口。</a:t>
            </a:r>
            <a:endParaRPr lang="zh-CN" sz="1800"/>
          </a:p>
        </p:txBody>
      </p:sp>
      <p:sp>
        <p:nvSpPr>
          <p:cNvPr id="200" name="text 200"/>
          <p:cNvSpPr txBox="1"/>
          <p:nvPr/>
        </p:nvSpPr>
        <p:spPr>
          <a:xfrm>
            <a:off x="594360" y="619963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0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RebornG · v0.7.1-rc.0 · 非盈利二创开发展示</a:t>
            </a:r>
            <a:endParaRPr lang="zh-CN" sz="1000"/>
          </a:p>
        </p:txBody>
      </p:sp>
      <p:sp>
        <p:nvSpPr>
          <p:cNvPr id="201" name="text 201"/>
          <p:cNvSpPr txBox="1"/>
          <p:nvPr/>
        </p:nvSpPr>
        <p:spPr>
          <a:xfrm>
            <a:off x="8321040" y="619963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10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玩家是原创角色，不替代方源</a:t>
            </a:r>
            <a:endParaRPr lang="zh-CN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6"/>
          </a:solidFill>
          <a:ln w="12700">
            <a:solidFill>
              <a:srgbClr val="0B0C16"/>
            </a:solidFill>
          </a:ln>
        </p:spPr>
        <p:txBody>
          <a:bodyPr/>
          <a:lstStyle/>
          <a:p/>
        </p:txBody>
      </p:sp>
      <p:sp>
        <p:nvSpPr>
          <p:cNvPr id="3" name="panel 3"/>
          <p:cNvSpPr/>
          <p:nvPr/>
        </p:nvSpPr>
        <p:spPr>
          <a:xfrm>
            <a:off x="320040" y="228600"/>
            <a:ext cx="11548872" cy="6355080"/>
          </a:xfrm>
          <a:prstGeom prst="roundRect">
            <a:avLst/>
          </a:prstGeom>
          <a:solidFill>
            <a:srgbClr val="151622"/>
          </a:solidFill>
          <a:ln w="12700">
            <a:solidFill>
              <a:srgbClr val="252437"/>
            </a:solidFill>
          </a:ln>
        </p:spPr>
        <p:txBody>
          <a:bodyPr/>
          <a:lstStyle/>
          <a:p/>
        </p:txBody>
      </p:sp>
      <p:cxnSp>
        <p:nvCxnSpPr>
          <p:cNvPr id="4" name="line 4"/>
          <p:cNvCxnSpPr/>
          <p:nvPr/>
        </p:nvCxnSpPr>
        <p:spPr>
          <a:xfrm>
            <a:off x="594360" y="1078992"/>
            <a:ext cx="10972800" cy="0"/>
          </a:xfrm>
          <a:prstGeom prst="line">
            <a:avLst/>
          </a:prstGeom>
          <a:ln w="14000">
            <a:solidFill>
              <a:srgbClr val="D6A72C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59436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600" b="1">
                <a:solidFill>
                  <a:srgbClr val="D6A72C"/>
                </a:solidFill>
                <a:latin typeface="Microsoft YaHei"/>
                <a:ea typeface="Microsoft YaHei"/>
                <a:cs typeface="Microsoft YaHei"/>
              </a:rPr>
              <a:t>v0.8.0 展望</a:t>
            </a:r>
            <a:endParaRPr lang="zh-CN" sz="2600"/>
          </a:p>
        </p:txBody>
      </p:sp>
      <p:sp>
        <p:nvSpPr>
          <p:cNvPr id="6" name="text 6"/>
          <p:cNvSpPr txBox="1"/>
          <p:nvPr/>
        </p:nvSpPr>
        <p:spPr>
          <a:xfrm>
            <a:off x="10469880" y="502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11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10 / 11</a:t>
            </a:r>
            <a:endParaRPr lang="zh-CN" sz="1100"/>
          </a:p>
        </p:txBody>
      </p:sp>
      <p:sp>
        <p:nvSpPr>
          <p:cNvPr id="20" name="panel 20"/>
          <p:cNvSpPr/>
          <p:nvPr/>
        </p:nvSpPr>
        <p:spPr>
          <a:xfrm>
            <a:off x="685800" y="1417320"/>
            <a:ext cx="6629400" cy="4389120"/>
          </a:xfrm>
          <a:prstGeom prst="roundRect">
            <a:avLst/>
          </a:prstGeom>
          <a:solidFill>
            <a:srgbClr val="1D1B2C"/>
          </a:solidFill>
          <a:ln w="12700">
            <a:solidFill>
              <a:srgbClr val="2C2940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960120" y="1737360"/>
            <a:ext cx="6080760" cy="35661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正史锚点：青茅山到宿命战、尊者博弈与天庭末章</a:t>
            </a:r>
            <a:endParaRPr lang="zh-CN" sz="1800"/>
          </a:p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IF 双路线：护宿命与毁宿命，永生和十转只作未证悬念</a:t>
            </a:r>
            <a:endParaRPr lang="zh-CN" sz="1800"/>
          </a:p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SceneTimeContext：统一地点、昼夜、AP、场景锁和行动</a:t>
            </a:r>
            <a:endParaRPr lang="zh-CN" sz="1800"/>
          </a:p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出身深线、伏击链、升仙失败、灾劫后果、高级采集生态</a:t>
            </a:r>
            <a:endParaRPr lang="zh-CN" sz="1800"/>
          </a:p>
        </p:txBody>
      </p:sp>
      <p:sp>
        <p:nvSpPr>
          <p:cNvPr id="22" name="panel 22"/>
          <p:cNvSpPr/>
          <p:nvPr/>
        </p:nvSpPr>
        <p:spPr>
          <a:xfrm>
            <a:off x="7635240" y="1417320"/>
            <a:ext cx="3520440" cy="4389120"/>
          </a:xfrm>
          <a:prstGeom prst="roundRect">
            <a:avLst/>
          </a:prstGeom>
          <a:solidFill>
            <a:srgbClr val="101B1A"/>
          </a:solidFill>
          <a:ln w="12700">
            <a:solidFill>
              <a:srgbClr val="2B6A52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909560" y="173736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39C88A"/>
                </a:solidFill>
                <a:latin typeface="Microsoft YaHei"/>
                <a:ea typeface="Microsoft YaHei"/>
                <a:cs typeface="Microsoft YaHei"/>
              </a:rPr>
              <a:t>设计口径</a:t>
            </a:r>
            <a:endParaRPr lang="zh-CN" sz="1800"/>
          </a:p>
        </p:txBody>
      </p:sp>
      <p:sp>
        <p:nvSpPr>
          <p:cNvPr id="24" name="text 24"/>
          <p:cNvSpPr txBox="1"/>
          <p:nvPr/>
        </p:nvSpPr>
        <p:spPr>
          <a:xfrm>
            <a:off x="7909560" y="2240280"/>
            <a:ext cx="2788920" cy="2560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v0.8 的主题是剧情骨架和长线因果，不是继续堆孤立功能。</a:t>
            </a:r>
            <a:endParaRPr lang="zh-CN" sz="1800"/>
          </a:p>
        </p:txBody>
      </p:sp>
      <p:sp>
        <p:nvSpPr>
          <p:cNvPr id="200" name="text 200"/>
          <p:cNvSpPr txBox="1"/>
          <p:nvPr/>
        </p:nvSpPr>
        <p:spPr>
          <a:xfrm>
            <a:off x="594360" y="619963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0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RebornG · v0.7.1-rc.0 · 非盈利二创开发展示</a:t>
            </a:r>
            <a:endParaRPr lang="zh-CN" sz="1000"/>
          </a:p>
        </p:txBody>
      </p:sp>
      <p:sp>
        <p:nvSpPr>
          <p:cNvPr id="201" name="text 201"/>
          <p:cNvSpPr txBox="1"/>
          <p:nvPr/>
        </p:nvSpPr>
        <p:spPr>
          <a:xfrm>
            <a:off x="8321040" y="619963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10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玩家是原创角色，不替代方源</a:t>
            </a:r>
            <a:endParaRPr lang="zh-CN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C16"/>
          </a:solidFill>
          <a:ln w="12700">
            <a:solidFill>
              <a:srgbClr val="0B0C16"/>
            </a:solidFill>
          </a:ln>
        </p:spPr>
        <p:txBody>
          <a:bodyPr/>
          <a:lstStyle/>
          <a:p/>
        </p:txBody>
      </p:sp>
      <p:sp>
        <p:nvSpPr>
          <p:cNvPr id="3" name="panel 3"/>
          <p:cNvSpPr/>
          <p:nvPr/>
        </p:nvSpPr>
        <p:spPr>
          <a:xfrm>
            <a:off x="320040" y="228600"/>
            <a:ext cx="11548872" cy="6355080"/>
          </a:xfrm>
          <a:prstGeom prst="roundRect">
            <a:avLst/>
          </a:prstGeom>
          <a:solidFill>
            <a:srgbClr val="151622"/>
          </a:solidFill>
          <a:ln w="12700">
            <a:solidFill>
              <a:srgbClr val="252437"/>
            </a:solidFill>
          </a:ln>
        </p:spPr>
        <p:txBody>
          <a:bodyPr/>
          <a:lstStyle/>
          <a:p/>
        </p:txBody>
      </p:sp>
      <p:cxnSp>
        <p:nvCxnSpPr>
          <p:cNvPr id="4" name="line 4"/>
          <p:cNvCxnSpPr/>
          <p:nvPr/>
        </p:nvCxnSpPr>
        <p:spPr>
          <a:xfrm>
            <a:off x="594360" y="1078992"/>
            <a:ext cx="10972800" cy="0"/>
          </a:xfrm>
          <a:prstGeom prst="line">
            <a:avLst/>
          </a:prstGeom>
          <a:ln w="14000">
            <a:solidFill>
              <a:srgbClr val="D6A72C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594360" y="4114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2600" b="1">
                <a:solidFill>
                  <a:srgbClr val="D6A72C"/>
                </a:solidFill>
                <a:latin typeface="Microsoft YaHei"/>
                <a:ea typeface="Microsoft YaHei"/>
                <a:cs typeface="Microsoft YaHei"/>
              </a:rPr>
              <a:t>视频结尾与征集</a:t>
            </a:r>
            <a:endParaRPr lang="zh-CN" sz="2600"/>
          </a:p>
        </p:txBody>
      </p:sp>
      <p:sp>
        <p:nvSpPr>
          <p:cNvPr id="6" name="text 6"/>
          <p:cNvSpPr txBox="1"/>
          <p:nvPr/>
        </p:nvSpPr>
        <p:spPr>
          <a:xfrm>
            <a:off x="10469880" y="5029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11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11 / 11</a:t>
            </a:r>
            <a:endParaRPr lang="zh-CN" sz="1100"/>
          </a:p>
        </p:txBody>
      </p:sp>
      <p:sp>
        <p:nvSpPr>
          <p:cNvPr id="20" name="panel 20"/>
          <p:cNvSpPr/>
          <p:nvPr/>
        </p:nvSpPr>
        <p:spPr>
          <a:xfrm>
            <a:off x="685800" y="1417320"/>
            <a:ext cx="6629400" cy="4389120"/>
          </a:xfrm>
          <a:prstGeom prst="roundRect">
            <a:avLst/>
          </a:prstGeom>
          <a:solidFill>
            <a:srgbClr val="1D1B2C"/>
          </a:solidFill>
          <a:ln w="12700">
            <a:solidFill>
              <a:srgbClr val="2C2940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960120" y="1737360"/>
            <a:ext cx="6080760" cy="35661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你最想先玩哪条出身深线？</a:t>
            </a:r>
            <a:endParaRPr lang="zh-CN" sz="1800"/>
          </a:p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你认为哪个原著锚点最值得优先做？</a:t>
            </a:r>
            <a:endParaRPr lang="zh-CN" sz="1800"/>
          </a:p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哪些 UI、数值或战斗体验还需要打磨？</a:t>
            </a:r>
            <a:endParaRPr lang="zh-CN" sz="1800"/>
          </a:p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• 欢迎反馈原著边界、二创合理性和系统节奏</a:t>
            </a:r>
            <a:endParaRPr lang="zh-CN" sz="1800"/>
          </a:p>
        </p:txBody>
      </p:sp>
      <p:sp>
        <p:nvSpPr>
          <p:cNvPr id="22" name="panel 22"/>
          <p:cNvSpPr/>
          <p:nvPr/>
        </p:nvSpPr>
        <p:spPr>
          <a:xfrm>
            <a:off x="7635240" y="1417320"/>
            <a:ext cx="3520440" cy="4389120"/>
          </a:xfrm>
          <a:prstGeom prst="roundRect">
            <a:avLst/>
          </a:prstGeom>
          <a:solidFill>
            <a:srgbClr val="101B1A"/>
          </a:solidFill>
          <a:ln w="12700">
            <a:solidFill>
              <a:srgbClr val="2B6A52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909560" y="173736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1">
                <a:solidFill>
                  <a:srgbClr val="39C88A"/>
                </a:solidFill>
                <a:latin typeface="Microsoft YaHei"/>
                <a:ea typeface="Microsoft YaHei"/>
                <a:cs typeface="Microsoft YaHei"/>
              </a:rPr>
              <a:t>设计口径</a:t>
            </a:r>
            <a:endParaRPr lang="zh-CN" sz="1800"/>
          </a:p>
        </p:txBody>
      </p:sp>
      <p:sp>
        <p:nvSpPr>
          <p:cNvPr id="24" name="text 24"/>
          <p:cNvSpPr txBox="1"/>
          <p:nvPr/>
        </p:nvSpPr>
        <p:spPr>
          <a:xfrm>
            <a:off x="7909560" y="2240280"/>
            <a:ext cx="2788920" cy="2560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800" b="0">
                <a:solidFill>
                  <a:srgbClr val="E9E1C6"/>
                </a:solidFill>
                <a:latin typeface="Microsoft YaHei"/>
                <a:ea typeface="Microsoft YaHei"/>
                <a:cs typeface="Microsoft YaHei"/>
              </a:rPr>
              <a:t>RebornG 的目标是把蛊界做成能长期扩展的规则舞台。接下来，剧情要真正开始发力。</a:t>
            </a:r>
            <a:endParaRPr lang="zh-CN" sz="1800"/>
          </a:p>
        </p:txBody>
      </p:sp>
      <p:sp>
        <p:nvSpPr>
          <p:cNvPr id="200" name="text 200"/>
          <p:cNvSpPr txBox="1"/>
          <p:nvPr/>
        </p:nvSpPr>
        <p:spPr>
          <a:xfrm>
            <a:off x="594360" y="619963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zh-CN" sz="10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RebornG · v0.7.1-rc.0 · 非盈利二创开发展示</a:t>
            </a:r>
            <a:endParaRPr lang="zh-CN" sz="1000"/>
          </a:p>
        </p:txBody>
      </p:sp>
      <p:sp>
        <p:nvSpPr>
          <p:cNvPr id="201" name="text 201"/>
          <p:cNvSpPr txBox="1"/>
          <p:nvPr/>
        </p:nvSpPr>
        <p:spPr>
          <a:xfrm>
            <a:off x="8321040" y="619963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zh-CN" sz="1000" b="0">
                <a:solidFill>
                  <a:srgbClr val="9E9275"/>
                </a:solidFill>
                <a:latin typeface="Microsoft YaHei"/>
                <a:ea typeface="Microsoft YaHei"/>
                <a:cs typeface="Microsoft YaHei"/>
              </a:rPr>
              <a:t>玩家是原创角色，不替代方源</a:t>
            </a:r>
            <a:endParaRPr lang="zh-CN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bornG">
  <a:themeElements>
    <a:clrScheme name="RebornG">
      <a:dk1>
        <a:srgbClr val="0B0C16"/>
      </a:dk1>
      <a:lt1>
        <a:srgbClr val="E9E1C6"/>
      </a:lt1>
      <a:dk2>
        <a:srgbClr val="151622"/>
      </a:dk2>
      <a:lt2>
        <a:srgbClr val="9E9275"/>
      </a:lt2>
      <a:accent1>
        <a:srgbClr val="D6A72C"/>
      </a:accent1>
      <a:accent2>
        <a:srgbClr val="39C88A"/>
      </a:accent2>
      <a:accent3>
        <a:srgbClr val="4D83FF"/>
      </a:accent3>
      <a:accent4>
        <a:srgbClr val="D85C5C"/>
      </a:accent4>
      <a:accent5>
        <a:srgbClr val="8D6BE8"/>
      </a:accent5>
      <a:accent6>
        <a:srgbClr val="6C5C3B"/>
      </a:accent6>
      <a:hlink>
        <a:srgbClr val="4D83FF"/>
      </a:hlink>
      <a:folHlink>
        <a:srgbClr val="8D6BE8"/>
      </a:folHlink>
    </a:clrScheme>
    <a:fontScheme name="RebornG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RebornG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宽屏幕</PresentationFormat>
  <Slides>11</Slides>
  <Notes>0</Notes>
  <HiddenSlides>0</HiddenSlides>
  <ScaleCrop>false</ScaleCrop>
  <HeadingPairs>
    <vt:vector size="2" baseType="variant">
      <vt:variant>
        <vt:lpstr>幻灯片标题</vt:lpstr>
      </vt:variant>
      <vt:variant>
        <vt:i4>11</vt:i4>
      </vt:variant>
    </vt:vector>
  </HeadingPairs>
  <TitlesOfParts>
    <vt:vector size="11" baseType="lpstr">
      <vt:lpstr>RebornG v0.7.1</vt:lpstr>
      <vt:lpstr>项目定位</vt:lpstr>
      <vt:lpstr>v0.7.1 的可信地基</vt:lpstr>
      <vt:lpstr>核心循环</vt:lpstr>
      <vt:lpstr>炼养用与经济闭环</vt:lpstr>
      <vt:lpstr>战斗、小队与势力</vt:lpstr>
      <vt:lpstr>AI 叙事闸门</vt:lpstr>
      <vt:lpstr>角色曲与演出</vt:lpstr>
      <vt:lpstr>测试与发布可信</vt:lpstr>
      <vt:lpstr>v0.8.0 展望</vt:lpstr>
      <vt:lpstr>视频结尾与征集</vt:lpstr>
    </vt:vector>
  </TitlesOfParts>
  <Company>RebornG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RebornG v0.7.1 项目介绍</dc:title>
  <dc:creator>Codex</dc:creator>
  <cp:lastModifiedBy>Codex</cp:lastModifiedBy>
  <dcterms:created xsi:type="dcterms:W3CDTF">2026-05-09T17:26:58Z</dcterms:created>
  <dcterms:modified xsi:type="dcterms:W3CDTF">2026-05-09T17:26:58Z</dcterms:modified>
</cp:coreProperties>
</file>